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League Spartan" charset="1" panose="00000800000000000000"/>
      <p:regular r:id="rId29"/>
    </p:embeddedFont>
    <p:embeddedFont>
      <p:font typeface="Poppins" charset="1" panose="00000500000000000000"/>
      <p:regular r:id="rId30"/>
    </p:embeddedFont>
    <p:embeddedFont>
      <p:font typeface="Roboto" charset="1" panose="02000000000000000000"/>
      <p:regular r:id="rId31"/>
    </p:embeddedFont>
    <p:embeddedFont>
      <p:font typeface="Poppins Bold" charset="1" panose="00000800000000000000"/>
      <p:regular r:id="rId32"/>
    </p:embeddedFont>
    <p:embeddedFont>
      <p:font typeface="Times New Roman Bold" charset="1" panose="02020803070505020304"/>
      <p:regular r:id="rId33"/>
    </p:embeddedFont>
    <p:embeddedFont>
      <p:font typeface="Cambria Bold" charset="1" panose="02040803050406030204"/>
      <p:regular r:id="rId34"/>
    </p:embeddedFont>
    <p:embeddedFont>
      <p:font typeface="Times New Roman" charset="1" panose="02020603050405020304"/>
      <p:regular r:id="rId35"/>
    </p:embeddedFont>
    <p:embeddedFont>
      <p:font typeface="Archivo Black" charset="1" panose="020B0A03020202020B04"/>
      <p:regular r:id="rId36"/>
    </p:embeddedFont>
    <p:embeddedFont>
      <p:font typeface="Trebuchet MS" charset="1" panose="020B06030202020202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7.png" Type="http://schemas.openxmlformats.org/officeDocument/2006/relationships/image"/><Relationship Id="rId4" Target="../media/image28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9.png" Type="http://schemas.openxmlformats.org/officeDocument/2006/relationships/image"/><Relationship Id="rId4" Target="../media/image30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3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33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37.png" Type="http://schemas.openxmlformats.org/officeDocument/2006/relationships/image"/><Relationship Id="rId4" Target="../embeddings/oleObject2.bin" Type="http://schemas.openxmlformats.org/officeDocument/2006/relationships/oleObjec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38.png" Type="http://schemas.openxmlformats.org/officeDocument/2006/relationships/image"/><Relationship Id="rId4" Target="../embeddings/oleObject3.bin" Type="http://schemas.openxmlformats.org/officeDocument/2006/relationships/oleObjec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jpeg" Type="http://schemas.openxmlformats.org/officeDocument/2006/relationships/image"/><Relationship Id="rId3" Target="../media/image41.jpeg" Type="http://schemas.openxmlformats.org/officeDocument/2006/relationships/image"/><Relationship Id="rId4" Target="../media/image42.jpeg" Type="http://schemas.openxmlformats.org/officeDocument/2006/relationships/image"/><Relationship Id="rId5" Target="../media/image4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267450" y="6096001"/>
            <a:ext cx="5753099" cy="3162299"/>
            <a:chOff x="0" y="0"/>
            <a:chExt cx="7670799" cy="42163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70800" cy="4216400"/>
            </a:xfrm>
            <a:custGeom>
              <a:avLst/>
              <a:gdLst/>
              <a:ahLst/>
              <a:cxnLst/>
              <a:rect r="r" b="b" t="t" l="l"/>
              <a:pathLst>
                <a:path h="4216400" w="7670800">
                  <a:moveTo>
                    <a:pt x="0" y="0"/>
                  </a:moveTo>
                  <a:lnTo>
                    <a:pt x="7670800" y="0"/>
                  </a:lnTo>
                  <a:lnTo>
                    <a:pt x="7670800" y="4216400"/>
                  </a:lnTo>
                  <a:lnTo>
                    <a:pt x="0" y="421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825" t="-8114" r="-18423" b="-3452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803079" y="495739"/>
            <a:ext cx="10681842" cy="1983684"/>
            <a:chOff x="0" y="0"/>
            <a:chExt cx="14242456" cy="26449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309958"/>
              <a:ext cx="2334955" cy="2334955"/>
            </a:xfrm>
            <a:custGeom>
              <a:avLst/>
              <a:gdLst/>
              <a:ahLst/>
              <a:cxnLst/>
              <a:rect r="r" b="b" t="t" l="l"/>
              <a:pathLst>
                <a:path h="2334955" w="2334955">
                  <a:moveTo>
                    <a:pt x="0" y="0"/>
                  </a:moveTo>
                  <a:lnTo>
                    <a:pt x="2334955" y="0"/>
                  </a:lnTo>
                  <a:lnTo>
                    <a:pt x="2334955" y="2334954"/>
                  </a:lnTo>
                  <a:lnTo>
                    <a:pt x="0" y="2334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8066718" y="795340"/>
              <a:ext cx="3847754" cy="1691349"/>
            </a:xfrm>
            <a:custGeom>
              <a:avLst/>
              <a:gdLst/>
              <a:ahLst/>
              <a:cxnLst/>
              <a:rect r="r" b="b" t="t" l="l"/>
              <a:pathLst>
                <a:path h="1691349" w="3847754">
                  <a:moveTo>
                    <a:pt x="0" y="0"/>
                  </a:moveTo>
                  <a:lnTo>
                    <a:pt x="3847754" y="0"/>
                  </a:lnTo>
                  <a:lnTo>
                    <a:pt x="3847754" y="1691349"/>
                  </a:lnTo>
                  <a:lnTo>
                    <a:pt x="0" y="1691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62" t="-313" r="-962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287424" y="468181"/>
              <a:ext cx="2297192" cy="2018509"/>
            </a:xfrm>
            <a:custGeom>
              <a:avLst/>
              <a:gdLst/>
              <a:ahLst/>
              <a:cxnLst/>
              <a:rect r="r" b="b" t="t" l="l"/>
              <a:pathLst>
                <a:path h="2018509" w="2297192">
                  <a:moveTo>
                    <a:pt x="0" y="0"/>
                  </a:moveTo>
                  <a:lnTo>
                    <a:pt x="2297192" y="0"/>
                  </a:lnTo>
                  <a:lnTo>
                    <a:pt x="2297192" y="2018508"/>
                  </a:lnTo>
                  <a:lnTo>
                    <a:pt x="0" y="2018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8833" t="0" r="-18999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899664" y="591906"/>
              <a:ext cx="1894784" cy="1894784"/>
            </a:xfrm>
            <a:custGeom>
              <a:avLst/>
              <a:gdLst/>
              <a:ahLst/>
              <a:cxnLst/>
              <a:rect r="r" b="b" t="t" l="l"/>
              <a:pathLst>
                <a:path h="1894784" w="1894784">
                  <a:moveTo>
                    <a:pt x="0" y="0"/>
                  </a:moveTo>
                  <a:lnTo>
                    <a:pt x="1894783" y="0"/>
                  </a:lnTo>
                  <a:lnTo>
                    <a:pt x="1894783" y="1894783"/>
                  </a:lnTo>
                  <a:lnTo>
                    <a:pt x="0" y="1894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479181" y="0"/>
              <a:ext cx="1763275" cy="2644912"/>
            </a:xfrm>
            <a:custGeom>
              <a:avLst/>
              <a:gdLst/>
              <a:ahLst/>
              <a:cxnLst/>
              <a:rect r="r" b="b" t="t" l="l"/>
              <a:pathLst>
                <a:path h="2644912" w="1763275">
                  <a:moveTo>
                    <a:pt x="0" y="0"/>
                  </a:moveTo>
                  <a:lnTo>
                    <a:pt x="1763275" y="0"/>
                  </a:lnTo>
                  <a:lnTo>
                    <a:pt x="1763275" y="2644912"/>
                  </a:lnTo>
                  <a:lnTo>
                    <a:pt x="0" y="2644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4220957" y="4443995"/>
            <a:ext cx="9846085" cy="141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b="true" sz="8265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ENERVISION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80587" y="5790279"/>
            <a:ext cx="8526827" cy="400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Empowering Smart Energy Insights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6792707" cy="10287000"/>
            <a:chOff x="0" y="0"/>
            <a:chExt cx="178902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90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9026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7509504" y="2224789"/>
            <a:ext cx="4857773" cy="6528106"/>
            <a:chOff x="0" y="0"/>
            <a:chExt cx="3663950" cy="49237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1750" y="31750"/>
              <a:ext cx="3600450" cy="4859020"/>
            </a:xfrm>
            <a:custGeom>
              <a:avLst/>
              <a:gdLst/>
              <a:ahLst/>
              <a:cxnLst/>
              <a:rect r="r" b="b" t="t" l="l"/>
              <a:pathLst>
                <a:path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l="-46412" t="0" r="-55837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2687" cy="4923790"/>
            </a:xfrm>
            <a:custGeom>
              <a:avLst/>
              <a:gdLst/>
              <a:ahLst/>
              <a:cxnLst/>
              <a:rect r="r" b="b" t="t" l="l"/>
              <a:pathLst>
                <a:path h="4923790" w="3662687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09411" y="1662134"/>
            <a:ext cx="4243380" cy="79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ENERVISION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9411" y="942975"/>
            <a:ext cx="4842085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ABOUT 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2862577" y="2215264"/>
            <a:ext cx="4857773" cy="6528106"/>
            <a:chOff x="0" y="0"/>
            <a:chExt cx="3663950" cy="49237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1750" y="31750"/>
              <a:ext cx="3600450" cy="4859020"/>
            </a:xfrm>
            <a:custGeom>
              <a:avLst/>
              <a:gdLst/>
              <a:ahLst/>
              <a:cxnLst/>
              <a:rect r="r" b="b" t="t" l="l"/>
              <a:pathLst>
                <a:path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4"/>
              <a:stretch>
                <a:fillRect l="-51124" t="0" r="-51124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62687" cy="4923790"/>
            </a:xfrm>
            <a:custGeom>
              <a:avLst/>
              <a:gdLst/>
              <a:ahLst/>
              <a:cxnLst/>
              <a:rect r="r" b="b" t="t" l="l"/>
              <a:pathLst>
                <a:path h="4923790" w="3662687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2390" y="3677139"/>
            <a:ext cx="6507928" cy="4009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EnerVisi</a:t>
            </a: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 blends IoT sensors and </a:t>
            </a: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95%-accurate AI to transform energy monitoring and optimization.</a:t>
            </a: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With energy costs rising and India’s demand growing </a:t>
            </a: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4.2% annually</a:t>
            </a: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we deliver continuous insights far beyond traditional audits. 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Organizations</a:t>
            </a: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achieve 20–25% Energy savings</a:t>
            </a: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and up to</a:t>
            </a: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25% carbon reduction</a:t>
            </a: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Our proven prototype and strong multi-sector validation position us to lead </a:t>
            </a: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India’s ₹10,000 crore market.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Backed by deep expertise in IoT, AI, and energy engineering, EnerVision turns energy use into strategic advantage.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8043" y="0"/>
            <a:ext cx="6379957" cy="10287000"/>
            <a:chOff x="0" y="0"/>
            <a:chExt cx="168031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031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80318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640583" y="1606753"/>
            <a:ext cx="1868266" cy="186826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640583" y="4210291"/>
            <a:ext cx="1868266" cy="186826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640583" y="6811982"/>
            <a:ext cx="1868266" cy="186826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969185" y="2867677"/>
            <a:ext cx="1924523" cy="1924523"/>
          </a:xfrm>
          <a:custGeom>
            <a:avLst/>
            <a:gdLst/>
            <a:ahLst/>
            <a:cxnLst/>
            <a:rect r="r" b="b" t="t" l="l"/>
            <a:pathLst>
              <a:path h="1924523" w="1924523">
                <a:moveTo>
                  <a:pt x="0" y="0"/>
                </a:moveTo>
                <a:lnTo>
                  <a:pt x="1924523" y="0"/>
                </a:lnTo>
                <a:lnTo>
                  <a:pt x="1924523" y="1924523"/>
                </a:lnTo>
                <a:lnTo>
                  <a:pt x="0" y="19245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886426" y="4546705"/>
            <a:ext cx="2007867" cy="2007867"/>
          </a:xfrm>
          <a:custGeom>
            <a:avLst/>
            <a:gdLst/>
            <a:ahLst/>
            <a:cxnLst/>
            <a:rect r="r" b="b" t="t" l="l"/>
            <a:pathLst>
              <a:path h="2007867" w="2007867">
                <a:moveTo>
                  <a:pt x="0" y="0"/>
                </a:moveTo>
                <a:lnTo>
                  <a:pt x="2007867" y="0"/>
                </a:lnTo>
                <a:lnTo>
                  <a:pt x="2007867" y="2007867"/>
                </a:lnTo>
                <a:lnTo>
                  <a:pt x="0" y="2007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969185" y="6554572"/>
            <a:ext cx="1879137" cy="1879137"/>
          </a:xfrm>
          <a:custGeom>
            <a:avLst/>
            <a:gdLst/>
            <a:ahLst/>
            <a:cxnLst/>
            <a:rect r="r" b="b" t="t" l="l"/>
            <a:pathLst>
              <a:path h="1879137" w="1879137">
                <a:moveTo>
                  <a:pt x="0" y="0"/>
                </a:moveTo>
                <a:lnTo>
                  <a:pt x="1879137" y="0"/>
                </a:lnTo>
                <a:lnTo>
                  <a:pt x="1879137" y="1879137"/>
                </a:lnTo>
                <a:lnTo>
                  <a:pt x="0" y="18791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083196" y="7939621"/>
            <a:ext cx="1811097" cy="1811097"/>
          </a:xfrm>
          <a:custGeom>
            <a:avLst/>
            <a:gdLst/>
            <a:ahLst/>
            <a:cxnLst/>
            <a:rect r="r" b="b" t="t" l="l"/>
            <a:pathLst>
              <a:path h="1811097" w="1811097">
                <a:moveTo>
                  <a:pt x="0" y="0"/>
                </a:moveTo>
                <a:lnTo>
                  <a:pt x="1811097" y="0"/>
                </a:lnTo>
                <a:lnTo>
                  <a:pt x="1811097" y="1811098"/>
                </a:lnTo>
                <a:lnTo>
                  <a:pt x="0" y="18110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908043" y="914400"/>
            <a:ext cx="5508835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WHAT WE OFFER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73498" y="1744684"/>
            <a:ext cx="4243380" cy="79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91"/>
              </a:lnSpc>
            </a:pPr>
            <a:r>
              <a:rPr lang="en-US" b="true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ALWAYS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55298" y="190147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55298" y="4495485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b="true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55298" y="709773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09532" y="1665402"/>
            <a:ext cx="7520370" cy="168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EnerVision goes beyond </a:t>
            </a: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monitoring by using IoT sensors and AI to analyze real-time data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every 6 seconds and deliver prescriptive, context-aware recommendations.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509532" y="4169630"/>
            <a:ext cx="7428835" cy="168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system </a:t>
            </a: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identifies issues like HVAC zones consuming 22% extra power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traces root causes using weather, occupancy, and equipment history, and suggests the most cost-effective fix.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88034" y="6871714"/>
            <a:ext cx="7650334" cy="168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also integrate sustainability </a:t>
            </a: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metrics—carbon reduction, ESG reporting, and renewable planning—bringing operational efficiency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environmental impact into one platform.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574" cy="10287246"/>
          </a:xfrm>
          <a:custGeom>
            <a:avLst/>
            <a:gdLst/>
            <a:ahLst/>
            <a:cxnLst/>
            <a:rect r="r" b="b" t="t" l="l"/>
            <a:pathLst>
              <a:path h="10287246" w="18288574">
                <a:moveTo>
                  <a:pt x="0" y="0"/>
                </a:moveTo>
                <a:lnTo>
                  <a:pt x="18288574" y="0"/>
                </a:lnTo>
                <a:lnTo>
                  <a:pt x="18288574" y="10287246"/>
                </a:lnTo>
                <a:lnTo>
                  <a:pt x="0" y="10287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45926" y="834390"/>
            <a:ext cx="4796155" cy="1432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7"/>
              </a:lnSpc>
            </a:pPr>
            <a:r>
              <a:rPr lang="en-US" b="true" sz="3999" spc="16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ENERGY MONITORING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57125" y="3052011"/>
            <a:ext cx="4131310" cy="1669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9"/>
              </a:lnSpc>
            </a:pPr>
            <a:r>
              <a:rPr lang="en-US" b="true" sz="3999" spc="127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AI-DRIVEN PREDICTIVE ANALYTICS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72094" y="3353185"/>
            <a:ext cx="4808004" cy="189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3"/>
              </a:lnSpc>
            </a:pPr>
            <a:r>
              <a:rPr lang="en-US" b="true" sz="3999" spc="12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SUSTAINABILITY AND CARBON FOOTPRINT REPORTING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40848" y="2570865"/>
            <a:ext cx="4147820" cy="1412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9"/>
              </a:lnSpc>
            </a:pPr>
            <a:r>
              <a:rPr lang="en-US" b="true" sz="3450" spc="-10">
                <a:solidFill>
                  <a:srgbClr val="4E6A9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"See your energy, save your costs—live, anytime, anywhere."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50437" y="5688222"/>
            <a:ext cx="5082215" cy="235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7"/>
              </a:lnSpc>
            </a:pPr>
            <a:r>
              <a:rPr lang="en-US" b="true" sz="3999" spc="203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CUSTOMIZED ENERGY EFFICIENCY SOLUTIONS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4120" y="5162673"/>
            <a:ext cx="3957320" cy="186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9"/>
              </a:lnSpc>
            </a:pPr>
            <a:r>
              <a:rPr lang="en-US" sz="3450" b="true">
                <a:solidFill>
                  <a:srgbClr val="4E6A9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"Smart insights today for a sustainable, cost- efficient tomorrow."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04618" y="5592441"/>
            <a:ext cx="4475480" cy="1439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8"/>
              </a:lnSpc>
            </a:pPr>
            <a:r>
              <a:rPr lang="en-US" sz="3450" b="true">
                <a:solidFill>
                  <a:srgbClr val="4E6A9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"Track, reduce, and thrive with eco-friendly energy practices."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0241" y="415170"/>
            <a:ext cx="4411066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b="true" sz="6600" spc="680">
                <a:solidFill>
                  <a:srgbClr val="002060"/>
                </a:solidFill>
                <a:latin typeface="Cambria Bold"/>
                <a:ea typeface="Cambria Bold"/>
                <a:cs typeface="Cambria Bold"/>
                <a:sym typeface="Cambria Bold"/>
              </a:rPr>
              <a:t>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40848" y="8345951"/>
            <a:ext cx="4475480" cy="1439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8"/>
              </a:lnSpc>
            </a:pPr>
            <a:r>
              <a:rPr lang="en-US" sz="3450" b="true">
                <a:solidFill>
                  <a:srgbClr val="4E6A9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</a:t>
            </a:r>
            <a:r>
              <a:rPr lang="en-US" sz="3450" b="true">
                <a:solidFill>
                  <a:srgbClr val="4E6A9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Tailored strategies to power efficiency and cut waste."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67950" y="806450"/>
            <a:ext cx="6294884" cy="8674100"/>
            <a:chOff x="0" y="0"/>
            <a:chExt cx="1657912" cy="22845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7912" cy="2284537"/>
            </a:xfrm>
            <a:custGeom>
              <a:avLst/>
              <a:gdLst/>
              <a:ahLst/>
              <a:cxnLst/>
              <a:rect r="r" b="b" t="t" l="l"/>
              <a:pathLst>
                <a:path h="2284537" w="1657912">
                  <a:moveTo>
                    <a:pt x="62724" y="0"/>
                  </a:moveTo>
                  <a:lnTo>
                    <a:pt x="1595188" y="0"/>
                  </a:lnTo>
                  <a:cubicBezTo>
                    <a:pt x="1611824" y="0"/>
                    <a:pt x="1627778" y="6608"/>
                    <a:pt x="1639541" y="18371"/>
                  </a:cubicBezTo>
                  <a:cubicBezTo>
                    <a:pt x="1651304" y="30134"/>
                    <a:pt x="1657912" y="46088"/>
                    <a:pt x="1657912" y="62724"/>
                  </a:cubicBezTo>
                  <a:lnTo>
                    <a:pt x="1657912" y="2221813"/>
                  </a:lnTo>
                  <a:cubicBezTo>
                    <a:pt x="1657912" y="2256454"/>
                    <a:pt x="1629830" y="2284537"/>
                    <a:pt x="1595188" y="2284537"/>
                  </a:cubicBezTo>
                  <a:lnTo>
                    <a:pt x="62724" y="2284537"/>
                  </a:lnTo>
                  <a:cubicBezTo>
                    <a:pt x="46088" y="2284537"/>
                    <a:pt x="30134" y="2277928"/>
                    <a:pt x="18371" y="2266165"/>
                  </a:cubicBezTo>
                  <a:cubicBezTo>
                    <a:pt x="6608" y="2254403"/>
                    <a:pt x="0" y="2238448"/>
                    <a:pt x="0" y="2221813"/>
                  </a:cubicBezTo>
                  <a:lnTo>
                    <a:pt x="0" y="62724"/>
                  </a:lnTo>
                  <a:cubicBezTo>
                    <a:pt x="0" y="46088"/>
                    <a:pt x="6608" y="30134"/>
                    <a:pt x="18371" y="18371"/>
                  </a:cubicBezTo>
                  <a:cubicBezTo>
                    <a:pt x="30134" y="6608"/>
                    <a:pt x="46088" y="0"/>
                    <a:pt x="6272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57912" cy="2332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726528"/>
            <a:ext cx="6671260" cy="185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CORE EFFICIENCY </a:t>
            </a: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SERVICES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14400"/>
            <a:ext cx="5634574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ENERVISON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862583" y="1606753"/>
            <a:ext cx="1868266" cy="186826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862583" y="4210291"/>
            <a:ext cx="1868266" cy="186826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862583" y="6811982"/>
            <a:ext cx="1868266" cy="186826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977298" y="190147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77298" y="4495485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b="true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77298" y="709773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54934" y="1707478"/>
            <a:ext cx="5607900" cy="134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TIME ENERGY MONITORING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54934" y="4365408"/>
            <a:ext cx="5607900" cy="134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POWERED PREDICTIVE ANALYSIS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54934" y="6689475"/>
            <a:ext cx="5294271" cy="200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APPLIANCE LEVEL CONSUMPTION ANALYSIS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3959800"/>
            <a:ext cx="7034692" cy="366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deep real-time visibility into power patterns, peak loads, and appliance behavior, enabling quick detection of abnormalities.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AI-driven forecasting to predict consumption trends, optimize usage, and reduce operational energy costs.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91673" y="94805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649353" y="1424104"/>
            <a:ext cx="8255663" cy="178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1"/>
              </a:lnSpc>
            </a:pPr>
            <a:r>
              <a:rPr lang="en-US" sz="51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ENERGY DRIVEN SERVICES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49353" y="611976"/>
            <a:ext cx="5634574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ENERVISION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06450" y="806450"/>
            <a:ext cx="6990015" cy="8674100"/>
            <a:chOff x="0" y="0"/>
            <a:chExt cx="1840992" cy="22845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40992" cy="2284537"/>
            </a:xfrm>
            <a:custGeom>
              <a:avLst/>
              <a:gdLst/>
              <a:ahLst/>
              <a:cxnLst/>
              <a:rect r="r" b="b" t="t" l="l"/>
              <a:pathLst>
                <a:path h="2284537" w="1840992">
                  <a:moveTo>
                    <a:pt x="56486" y="0"/>
                  </a:moveTo>
                  <a:lnTo>
                    <a:pt x="1784506" y="0"/>
                  </a:lnTo>
                  <a:cubicBezTo>
                    <a:pt x="1799487" y="0"/>
                    <a:pt x="1813854" y="5951"/>
                    <a:pt x="1824447" y="16544"/>
                  </a:cubicBezTo>
                  <a:cubicBezTo>
                    <a:pt x="1835041" y="27138"/>
                    <a:pt x="1840992" y="41505"/>
                    <a:pt x="1840992" y="56486"/>
                  </a:cubicBezTo>
                  <a:lnTo>
                    <a:pt x="1840992" y="2228051"/>
                  </a:lnTo>
                  <a:cubicBezTo>
                    <a:pt x="1840992" y="2243032"/>
                    <a:pt x="1835041" y="2257399"/>
                    <a:pt x="1824447" y="2267992"/>
                  </a:cubicBezTo>
                  <a:cubicBezTo>
                    <a:pt x="1813854" y="2278586"/>
                    <a:pt x="1799487" y="2284537"/>
                    <a:pt x="1784506" y="2284537"/>
                  </a:cubicBezTo>
                  <a:lnTo>
                    <a:pt x="56486" y="2284537"/>
                  </a:lnTo>
                  <a:cubicBezTo>
                    <a:pt x="41505" y="2284537"/>
                    <a:pt x="27138" y="2278586"/>
                    <a:pt x="16544" y="2267992"/>
                  </a:cubicBezTo>
                  <a:cubicBezTo>
                    <a:pt x="5951" y="2257399"/>
                    <a:pt x="0" y="2243032"/>
                    <a:pt x="0" y="2228051"/>
                  </a:cubicBezTo>
                  <a:lnTo>
                    <a:pt x="0" y="56486"/>
                  </a:lnTo>
                  <a:cubicBezTo>
                    <a:pt x="0" y="41505"/>
                    <a:pt x="5951" y="27138"/>
                    <a:pt x="16544" y="16544"/>
                  </a:cubicBezTo>
                  <a:cubicBezTo>
                    <a:pt x="27138" y="5951"/>
                    <a:pt x="41505" y="0"/>
                    <a:pt x="5648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840992" cy="2332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62333" y="1606753"/>
            <a:ext cx="1868266" cy="186826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62333" y="4210291"/>
            <a:ext cx="1868266" cy="186826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62333" y="6811982"/>
            <a:ext cx="1868266" cy="186826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977048" y="190147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77048" y="4495485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b="true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77048" y="709773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98771" y="1726528"/>
            <a:ext cx="5231996" cy="134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 EFFICIENCY RECOMMENDATION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98771" y="4183034"/>
            <a:ext cx="5231996" cy="200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CARBON FOOTPRINT AND CARBON CREDIT REPORTING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6662217"/>
            <a:ext cx="5702066" cy="200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ARCHITECTURAL DESIGN ANALYSIS FOR ENERGY OPTIMIZATIO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0" y="3389293"/>
            <a:ext cx="7609947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precise energy-efficiency recommendations, identifies major loss points, and calculates real-time carbon footprint with carbon-credit readiness for sustainability reporting.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Integrates architectural design analysis to optimize building layout, airflow, equipment positioning, and sensor placement—reducing power losses and improving long-term energy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7175" y="4502250"/>
            <a:ext cx="18802350" cy="2006600"/>
            <a:chOff x="0" y="0"/>
            <a:chExt cx="4952059" cy="5284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52059" cy="528487"/>
            </a:xfrm>
            <a:custGeom>
              <a:avLst/>
              <a:gdLst/>
              <a:ahLst/>
              <a:cxnLst/>
              <a:rect r="r" b="b" t="t" l="l"/>
              <a:pathLst>
                <a:path h="528487" w="4952059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52059" cy="576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600881" y="1884385"/>
            <a:ext cx="9509912" cy="29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MARKETPLACE</a:t>
            </a:r>
          </a:p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SEGEMENT</a:t>
            </a:r>
          </a:p>
          <a:p>
            <a:pPr algn="ctr">
              <a:lnSpc>
                <a:spcPts val="79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208107" y="1209675"/>
            <a:ext cx="5871786" cy="624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WE PROVIDE 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69039" y="5029897"/>
            <a:ext cx="3263886" cy="96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09989" y="4973700"/>
            <a:ext cx="3263886" cy="920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53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600M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55075" y="5029897"/>
            <a:ext cx="3263886" cy="96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43%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7178" y="6835688"/>
            <a:ext cx="4247608" cy="298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India’s 1.5M schools and 39k colleges spend ₹50L–₹2Cr annually on energy, making them a high-impact segment for savings.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05031" y="6835688"/>
            <a:ext cx="4435785" cy="298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Commercial office spaces consume massive power for 24/7 operations, representing a fast-growing ₹5,000 crore market.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81725" y="6835688"/>
            <a:ext cx="4623963" cy="298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Industries like textiles, pharma, and automotive consume 40% of India’s industrial energy—where even 2–3% savings shift profitability.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44345" y="5684260"/>
            <a:ext cx="1395174" cy="74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Sq.ft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89044" y="923925"/>
            <a:ext cx="9509912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MARKET SIZE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66825" y="3274554"/>
            <a:ext cx="5507050" cy="5499245"/>
            <a:chOff x="0" y="0"/>
            <a:chExt cx="7342733" cy="73323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42759" cy="7332345"/>
            </a:xfrm>
            <a:custGeom>
              <a:avLst/>
              <a:gdLst/>
              <a:ahLst/>
              <a:cxnLst/>
              <a:rect r="r" b="b" t="t" l="l"/>
              <a:pathLst>
                <a:path h="7332345" w="7342759">
                  <a:moveTo>
                    <a:pt x="0" y="0"/>
                  </a:moveTo>
                  <a:lnTo>
                    <a:pt x="7342759" y="0"/>
                  </a:lnTo>
                  <a:lnTo>
                    <a:pt x="7342759" y="7332345"/>
                  </a:lnTo>
                  <a:lnTo>
                    <a:pt x="0" y="7332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" r="0" b="-2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866857" y="3380631"/>
            <a:ext cx="2306985" cy="264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700" spc="-25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TAM</a:t>
            </a:r>
          </a:p>
          <a:p>
            <a:pPr algn="ctr">
              <a:lnSpc>
                <a:spcPts val="2850"/>
              </a:lnSpc>
            </a:pPr>
            <a:r>
              <a:rPr lang="en-US" sz="2700" spc="-9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5 Billion USD</a:t>
            </a:r>
          </a:p>
          <a:p>
            <a:pPr algn="ctr">
              <a:lnSpc>
                <a:spcPts val="3042"/>
              </a:lnSpc>
            </a:pPr>
            <a:r>
              <a:rPr lang="en-US" sz="2700" spc="-18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by 2030</a:t>
            </a:r>
          </a:p>
          <a:p>
            <a:pPr algn="ctr">
              <a:lnSpc>
                <a:spcPts val="3045"/>
              </a:lnSpc>
            </a:pPr>
          </a:p>
          <a:p>
            <a:pPr algn="ctr">
              <a:lnSpc>
                <a:spcPts val="3045"/>
              </a:lnSpc>
            </a:pPr>
            <a:r>
              <a:rPr lang="en-US" sz="2700" spc="85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SAM</a:t>
            </a:r>
          </a:p>
          <a:p>
            <a:pPr algn="ctr">
              <a:lnSpc>
                <a:spcPts val="2850"/>
              </a:lnSpc>
            </a:pPr>
            <a:r>
              <a:rPr lang="en-US" sz="2700" spc="-1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5% of TAM 1.5</a:t>
            </a:r>
          </a:p>
          <a:p>
            <a:pPr algn="ctr">
              <a:lnSpc>
                <a:spcPts val="3045"/>
              </a:lnSpc>
            </a:pPr>
            <a:r>
              <a:rPr lang="en-US" sz="2700" spc="-9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Billion USD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40324" y="6447642"/>
            <a:ext cx="1560195" cy="186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700" spc="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SOM</a:t>
            </a:r>
          </a:p>
          <a:p>
            <a:pPr algn="ctr">
              <a:lnSpc>
                <a:spcPts val="2850"/>
              </a:lnSpc>
            </a:pPr>
            <a:r>
              <a:rPr lang="en-US" sz="2700" spc="-25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10% Share of SAM 200Million USD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70434" y="3073379"/>
            <a:ext cx="8528685" cy="1873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67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Total Addressable Market (TAM):</a:t>
            </a:r>
          </a:p>
          <a:p>
            <a:pPr algn="just">
              <a:lnSpc>
                <a:spcPts val="2934"/>
              </a:lnSpc>
            </a:pPr>
            <a:r>
              <a:rPr lang="en-US" sz="2499" spc="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$5 billion (~₹40,000 crores) by 2030.</a:t>
            </a:r>
          </a:p>
          <a:p>
            <a:pPr algn="just">
              <a:lnSpc>
                <a:spcPts val="2934"/>
              </a:lnSpc>
            </a:pPr>
            <a:r>
              <a:rPr lang="en-US" sz="2499" spc="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Represents the entire global market for energy auditing systems across industries like manufacturing, healthcare, education, retail, and commercial offices.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70434" y="5167588"/>
            <a:ext cx="6022340" cy="149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b="true" sz="2499" spc="-1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Serviceable Available Market (SAM):</a:t>
            </a:r>
          </a:p>
          <a:p>
            <a:pPr algn="l">
              <a:lnSpc>
                <a:spcPts val="2934"/>
              </a:lnSpc>
            </a:pPr>
            <a:r>
              <a:rPr lang="en-US" sz="2499" spc="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$1.2 billion (~₹10,000 crores) by 2030.</a:t>
            </a:r>
          </a:p>
          <a:p>
            <a:pPr algn="l">
              <a:lnSpc>
                <a:spcPts val="2967"/>
              </a:lnSpc>
            </a:pPr>
            <a:r>
              <a:rPr lang="en-US" sz="2499" spc="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Focuses	on	the	Indian	energy	management 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70434" y="6902387"/>
            <a:ext cx="8528685" cy="1871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b="true" sz="2499" spc="-1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Serviceable Obtainable Market (SOM):</a:t>
            </a:r>
          </a:p>
          <a:p>
            <a:pPr algn="l">
              <a:lnSpc>
                <a:spcPts val="2934"/>
              </a:lnSpc>
            </a:pPr>
            <a:r>
              <a:rPr lang="en-US" sz="2499" spc="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$60 million (~₹500 crores).</a:t>
            </a:r>
          </a:p>
          <a:p>
            <a:pPr algn="l">
              <a:lnSpc>
                <a:spcPts val="2967"/>
              </a:lnSpc>
            </a:pPr>
            <a:r>
              <a:rPr lang="en-US" sz="2499" spc="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Represents 5% of the SAM, achievable by Enervision within 2–3 years, accounting for competition, scalability, and operational capabilities.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2795" y="1519932"/>
            <a:ext cx="6021380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FLOW CHART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2795" y="707804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IMPACT 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710116" y="1333508"/>
            <a:ext cx="9897385" cy="9049285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20075" y="3188675"/>
            <a:ext cx="8923925" cy="566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5844" indent="-207922" lvl="1">
              <a:lnSpc>
                <a:spcPts val="2696"/>
              </a:lnSpc>
              <a:buFont typeface="Arial"/>
              <a:buChar char="•"/>
            </a:pPr>
            <a:r>
              <a:rPr lang="en-US" sz="19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1% reduction in annual energy usage results in </a:t>
            </a:r>
            <a:r>
              <a:rPr lang="en-US" b="true" sz="192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2–3% reduction in long-term operational cost</a:t>
            </a:r>
            <a:r>
              <a:rPr lang="en-US" sz="19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due to compounding savings, reduced maintenance, and lower peak-time penalties.</a:t>
            </a:r>
          </a:p>
          <a:p>
            <a:pPr algn="just" marL="415844" indent="-207922" lvl="1">
              <a:lnSpc>
                <a:spcPts val="2696"/>
              </a:lnSpc>
              <a:buFont typeface="Arial"/>
              <a:buChar char="•"/>
            </a:pPr>
            <a:r>
              <a:rPr lang="en-US" sz="19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Buildings that adopt smart energy monitoring report </a:t>
            </a:r>
            <a:r>
              <a:rPr lang="en-US" b="true" sz="192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15–25% reduction in electricity consumption within the first year</a:t>
            </a:r>
            <a:r>
              <a:rPr lang="en-US" sz="19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based on global facility-management benchmarks.</a:t>
            </a:r>
          </a:p>
          <a:p>
            <a:pPr algn="just" marL="415844" indent="-207922" lvl="1">
              <a:lnSpc>
                <a:spcPts val="2696"/>
              </a:lnSpc>
              <a:buFont typeface="Arial"/>
              <a:buChar char="•"/>
            </a:pPr>
            <a:r>
              <a:rPr lang="en-US" sz="19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Predictive maintenance driven by </a:t>
            </a:r>
            <a:r>
              <a:rPr lang="en-US" b="true" sz="192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energy analytics reduces equipment failure by 30–40%, increasing lifespan of HVAC systems</a:t>
            </a:r>
            <a:r>
              <a:rPr lang="en-US" sz="19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industrial machinery by up to 5–7 years.</a:t>
            </a:r>
          </a:p>
          <a:p>
            <a:pPr algn="just" marL="415844" indent="-207922" lvl="1">
              <a:lnSpc>
                <a:spcPts val="2696"/>
              </a:lnSpc>
              <a:buFont typeface="Arial"/>
              <a:buChar char="•"/>
            </a:pPr>
            <a:r>
              <a:rPr lang="en-US" sz="19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power factor and optimized load balancing can </a:t>
            </a:r>
            <a:r>
              <a:rPr lang="en-US" b="true" sz="192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save 8–12% in monthly bills</a:t>
            </a:r>
            <a:r>
              <a:rPr lang="en-US" sz="19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—especially in commercial and industrial environments.</a:t>
            </a:r>
          </a:p>
          <a:p>
            <a:pPr algn="just" marL="415844" indent="-207922" lvl="1">
              <a:lnSpc>
                <a:spcPts val="2696"/>
              </a:lnSpc>
              <a:buFont typeface="Arial"/>
              <a:buChar char="•"/>
            </a:pPr>
            <a:r>
              <a:rPr lang="en-US" sz="19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Carbon footprint reduction typically scales as </a:t>
            </a:r>
            <a:r>
              <a:rPr lang="en-US" b="true" sz="192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0.82 kg of CO₂ per kWh saved</a:t>
            </a:r>
            <a:r>
              <a:rPr lang="en-US" sz="19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meaning a building saving just </a:t>
            </a:r>
            <a:r>
              <a:rPr lang="en-US" b="true" sz="192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50,000 kWh/year avoids ~41 tons of CO₂</a:t>
            </a:r>
            <a:r>
              <a:rPr lang="en-US" sz="19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making it eligible for multiple carbon-credit schemes.</a:t>
            </a:r>
          </a:p>
          <a:p>
            <a:pPr algn="just" marL="415844" indent="-207922" lvl="1">
              <a:lnSpc>
                <a:spcPts val="2696"/>
              </a:lnSpc>
              <a:buFont typeface="Arial"/>
              <a:buChar char="•"/>
            </a:pPr>
            <a:r>
              <a:rPr lang="en-US" sz="19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 5 years, cumulative </a:t>
            </a:r>
            <a:r>
              <a:rPr lang="en-US" b="true" sz="192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savings can reach 60–70% of a building’s annual electricity</a:t>
            </a:r>
            <a:r>
              <a:rPr lang="en-US" sz="19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budget, once compounding, efficiency upgrades, and reduced downtime are factored in.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9576" y="1172465"/>
            <a:ext cx="6021380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ENERGY SAVING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808452" y="43431"/>
            <a:ext cx="10119781" cy="9883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21337" y="3255645"/>
            <a:ext cx="7400532" cy="371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 reduction as the system identifies and fixes wastage in lighting, HVAC, and machinery within weeks.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AI-driven optimization improves monthly, learning usage patterns to steadily increase savings.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Predictive maintenance prevents energy-heavy equipment failures, reducing overconsumption long-term.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Architectural &amp; operational improvements refine sensor placement and building flow for deeper efficiency gains.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Compounding savings accumulate year after year, cutting total energy costs by 50–70% over 5–10 years.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4490" y="0"/>
            <a:ext cx="15038109" cy="10507878"/>
          </a:xfrm>
          <a:custGeom>
            <a:avLst/>
            <a:gdLst/>
            <a:ahLst/>
            <a:cxnLst/>
            <a:rect r="r" b="b" t="t" l="l"/>
            <a:pathLst>
              <a:path h="10507878" w="15038109">
                <a:moveTo>
                  <a:pt x="0" y="0"/>
                </a:moveTo>
                <a:lnTo>
                  <a:pt x="15038109" y="0"/>
                </a:lnTo>
                <a:lnTo>
                  <a:pt x="15038109" y="10507878"/>
                </a:lnTo>
                <a:lnTo>
                  <a:pt x="0" y="10507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4850" y="1014434"/>
            <a:ext cx="4243380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UNIQUNESS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4850" y="333375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ENERVISION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4850" y="1870199"/>
            <a:ext cx="12517062" cy="446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Full-Stack Energy Intelligence + Architectural Design Analysis</a:t>
            </a: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EnerVision goes beyond monitoring by combining </a:t>
            </a:r>
            <a:r>
              <a:rPr lang="en-US" b="true" sz="2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IoT sensing, predictive AI, and architectural design analysis </a:t>
            </a: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identify structural inefficiencies (lighting layout issues, HVAC zoning flaws, load distribution errors) and provide actionable redesign recommendations that boost building-level efficiency.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Maximum Savings With Predictive Optimization:</a:t>
            </a: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Our platform delivers </a:t>
            </a:r>
            <a:r>
              <a:rPr lang="en-US" b="true" sz="2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20–25% energy reduction</a:t>
            </a: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continuous monitoring, instant anomaly detection, equipment-health prediction, and sector-specific optimization—doubling the impact of traditional audits while remaining easier and more customizable than global solutions like Google EMS.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Integrated Sustainability + Carbon Credit Generation: </a:t>
            </a: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EnerVision automatically </a:t>
            </a:r>
            <a:r>
              <a:rPr lang="en-US" b="true" sz="2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tracks carbon footprint</a:t>
            </a: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measures emission reductions, and converts </a:t>
            </a:r>
            <a:r>
              <a:rPr lang="en-US" b="true" sz="2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verified savings into tradable carbon credits,</a:t>
            </a: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unlocking new revenue streams while ensuring ESG compliance, sustainability reporting, and alignment with global climate frameworks.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60353" y="6839407"/>
            <a:ext cx="11133940" cy="3101564"/>
            <a:chOff x="0" y="0"/>
            <a:chExt cx="14845253" cy="4135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45285" cy="4135374"/>
            </a:xfrm>
            <a:custGeom>
              <a:avLst/>
              <a:gdLst/>
              <a:ahLst/>
              <a:cxnLst/>
              <a:rect r="r" b="b" t="t" l="l"/>
              <a:pathLst>
                <a:path h="4135374" w="14845285">
                  <a:moveTo>
                    <a:pt x="0" y="0"/>
                  </a:moveTo>
                  <a:lnTo>
                    <a:pt x="14845285" y="0"/>
                  </a:lnTo>
                  <a:lnTo>
                    <a:pt x="14845285" y="4135374"/>
                  </a:lnTo>
                  <a:lnTo>
                    <a:pt x="0" y="4135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7" t="0" r="-37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545762" y="1740020"/>
            <a:ext cx="3408933" cy="7535419"/>
            <a:chOff x="0" y="0"/>
            <a:chExt cx="4545244" cy="100472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45203" cy="10047224"/>
            </a:xfrm>
            <a:custGeom>
              <a:avLst/>
              <a:gdLst/>
              <a:ahLst/>
              <a:cxnLst/>
              <a:rect r="r" b="b" t="t" l="l"/>
              <a:pathLst>
                <a:path h="10047224" w="4545203">
                  <a:moveTo>
                    <a:pt x="0" y="0"/>
                  </a:moveTo>
                  <a:lnTo>
                    <a:pt x="4545203" y="0"/>
                  </a:lnTo>
                  <a:lnTo>
                    <a:pt x="4545203" y="10047224"/>
                  </a:lnTo>
                  <a:lnTo>
                    <a:pt x="0" y="10047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0" r="0" b="-2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8245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80867" y="1201127"/>
            <a:ext cx="6726267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TECHNICAL </a:t>
            </a: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21663" y="266771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ENERVISION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05416" y="2962218"/>
            <a:ext cx="7098084" cy="5585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2968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Leverages sensors to track energy consumption in </a:t>
            </a: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lighting, HVAC systems, and machinery, allowing for the prompt detection and rectification 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inefficiencies.</a:t>
            </a:r>
          </a:p>
          <a:p>
            <a:pPr algn="just" marL="539749" indent="-269875" lvl="1">
              <a:lnSpc>
                <a:spcPts val="2967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Utilizes  sophisticated  machine  learning  algorithms  to  </a:t>
            </a: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identify  usage  patterns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flag irregularities, and forecast </a:t>
            </a: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energy requirements 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a high degree of precision </a:t>
            </a: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(95% accuracy). </a:t>
            </a:r>
          </a:p>
          <a:p>
            <a:pPr algn="just" marL="539749" indent="-269875" lvl="1">
              <a:lnSpc>
                <a:spcPts val="2968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seamless data storage and processing on a centralized platform, offering scalable and </a:t>
            </a: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access to energy analytics,protecting through encryptions.</a:t>
            </a:r>
          </a:p>
          <a:p>
            <a:pPr algn="just" marL="539749" indent="-269875" lvl="1">
              <a:lnSpc>
                <a:spcPts val="2968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User-friendly  interface  provides  live  updates,  alerts,  and  actionable  insights  for  efficient resource management.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61629" y="3235586"/>
            <a:ext cx="3534310" cy="4867274"/>
            <a:chOff x="0" y="0"/>
            <a:chExt cx="4712413" cy="64896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12462" cy="6489700"/>
            </a:xfrm>
            <a:custGeom>
              <a:avLst/>
              <a:gdLst/>
              <a:ahLst/>
              <a:cxnLst/>
              <a:rect r="r" b="b" t="t" l="l"/>
              <a:pathLst>
                <a:path h="6489700" w="4712462">
                  <a:moveTo>
                    <a:pt x="0" y="0"/>
                  </a:moveTo>
                  <a:lnTo>
                    <a:pt x="4712462" y="0"/>
                  </a:lnTo>
                  <a:lnTo>
                    <a:pt x="4712462" y="6489700"/>
                  </a:lnTo>
                  <a:lnTo>
                    <a:pt x="0" y="6489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9" t="0" r="-98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370880" y="3939772"/>
            <a:ext cx="5959595" cy="3458902"/>
            <a:chOff x="0" y="0"/>
            <a:chExt cx="9715499" cy="56387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15500" cy="5638800"/>
            </a:xfrm>
            <a:custGeom>
              <a:avLst/>
              <a:gdLst/>
              <a:ahLst/>
              <a:cxnLst/>
              <a:rect r="r" b="b" t="t" l="l"/>
              <a:pathLst>
                <a:path h="5638800" w="9715500">
                  <a:moveTo>
                    <a:pt x="0" y="0"/>
                  </a:moveTo>
                  <a:lnTo>
                    <a:pt x="9715500" y="0"/>
                  </a:lnTo>
                  <a:lnTo>
                    <a:pt x="9715500" y="5638800"/>
                  </a:lnTo>
                  <a:lnTo>
                    <a:pt x="0" y="563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" r="0" b="-16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8245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869231" y="1614509"/>
            <a:ext cx="5276850" cy="185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 FLOW</a:t>
            </a:r>
          </a:p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TECHNOLOGY</a:t>
            </a: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69231" y="847725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ENERVISION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0"/>
            <a:ext cx="8617381" cy="10023508"/>
            <a:chOff x="0" y="0"/>
            <a:chExt cx="8153902" cy="94844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53903" cy="9484402"/>
            </a:xfrm>
            <a:custGeom>
              <a:avLst/>
              <a:gdLst/>
              <a:ahLst/>
              <a:cxnLst/>
              <a:rect r="r" b="b" t="t" l="l"/>
              <a:pathLst>
                <a:path h="9484402" w="8153903">
                  <a:moveTo>
                    <a:pt x="0" y="0"/>
                  </a:moveTo>
                  <a:lnTo>
                    <a:pt x="8153903" y="0"/>
                  </a:lnTo>
                  <a:lnTo>
                    <a:pt x="8153903" y="9484402"/>
                  </a:lnTo>
                  <a:lnTo>
                    <a:pt x="0" y="9484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872" t="0" r="-487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822813" y="3798949"/>
            <a:ext cx="6436487" cy="481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sensors track real-time energy usage across all systems with encrypted data flow.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detects inefficiencies, predicts demand with high accuracy, and flags anomalies instantly.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reports deliver insights, appliance-level breakdowns, and carbon credit generation data.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Actionable recommendations optimize usage, reduce costs, and continuously improve performance.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5071" y="1681689"/>
            <a:ext cx="16397338" cy="8218887"/>
          </a:xfrm>
          <a:custGeom>
            <a:avLst/>
            <a:gdLst/>
            <a:ahLst/>
            <a:cxnLst/>
            <a:rect r="r" b="b" t="t" l="l"/>
            <a:pathLst>
              <a:path h="8218887" w="16397338">
                <a:moveTo>
                  <a:pt x="0" y="0"/>
                </a:moveTo>
                <a:lnTo>
                  <a:pt x="16397338" y="0"/>
                </a:lnTo>
                <a:lnTo>
                  <a:pt x="16397338" y="8218887"/>
                </a:lnTo>
                <a:lnTo>
                  <a:pt x="0" y="82188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170" r="0" b="-305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94299" y="519855"/>
            <a:ext cx="13159392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ENERVISION  IOT - CIRCUIT DIAGRAM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9540015" y="1173729"/>
          <a:ext cx="7543800" cy="6915150"/>
        </p:xfrm>
        <a:graphic>
          <a:graphicData uri="http://schemas.openxmlformats.org/presentationml/2006/ole">
            <p:oleObj imgW="9042400" imgH="84201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606651" y="1290659"/>
            <a:ext cx="5359739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COMPETITION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6651" y="523875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ENERVISION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6651" y="2989832"/>
            <a:ext cx="8115300" cy="557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tools like Schneider EcoStruxure &amp; Siemens Desigo focus on large enterprises, while EnerVision targets </a:t>
            </a:r>
            <a:r>
              <a:rPr lang="en-US" b="true" sz="2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mid-size to enterprise with faster deployment and lower setup cost.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competitors offer only monitoring dashboards, whereas EnerVision integrates </a:t>
            </a:r>
            <a:r>
              <a:rPr lang="en-US" b="true" sz="2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prediction, peak-hour intelligence, and appliance-level analytics in one unified platform.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energy audit firms perform manual, periodic audits; EnerVision provides real-time, automated, continuous auditing with AI-driven insights.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Competitors lack architectural design analysis, while EnerVision identifies building-level structural inefficiencies (HVAC layout issues, load design, lighting zoning).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few platforms support </a:t>
            </a:r>
            <a:r>
              <a:rPr lang="en-US" b="true" sz="2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carbon credit tracking &amp; generation,</a:t>
            </a: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making EnerVision one of the only systems </a:t>
            </a:r>
            <a:r>
              <a:rPr lang="en-US" b="true" sz="2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offering energy optimization + new revenue stream creation.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23361" y="2308934"/>
            <a:ext cx="7721894" cy="4787574"/>
          </a:xfrm>
          <a:custGeom>
            <a:avLst/>
            <a:gdLst/>
            <a:ahLst/>
            <a:cxnLst/>
            <a:rect r="r" b="b" t="t" l="l"/>
            <a:pathLst>
              <a:path h="4787574" w="7721894">
                <a:moveTo>
                  <a:pt x="0" y="0"/>
                </a:moveTo>
                <a:lnTo>
                  <a:pt x="7721894" y="0"/>
                </a:lnTo>
                <a:lnTo>
                  <a:pt x="7721894" y="4787574"/>
                </a:lnTo>
                <a:lnTo>
                  <a:pt x="0" y="47875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31624" y="7557038"/>
            <a:ext cx="14224752" cy="2064103"/>
          </a:xfrm>
          <a:custGeom>
            <a:avLst/>
            <a:gdLst/>
            <a:ahLst/>
            <a:cxnLst/>
            <a:rect r="r" b="b" t="t" l="l"/>
            <a:pathLst>
              <a:path h="2064103" w="14224752">
                <a:moveTo>
                  <a:pt x="0" y="0"/>
                </a:moveTo>
                <a:lnTo>
                  <a:pt x="14224752" y="0"/>
                </a:lnTo>
                <a:lnTo>
                  <a:pt x="14224752" y="2064103"/>
                </a:lnTo>
                <a:lnTo>
                  <a:pt x="0" y="2064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3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4825" y="1212178"/>
            <a:ext cx="6992088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REVENUE STREAM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4825" y="400050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ENERVISION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4825" y="2086993"/>
            <a:ext cx="8967130" cy="500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Ye</a:t>
            </a: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 1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25 installations generating ₹3.2 crores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revenue; EBITDA </a:t>
            </a: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₹40 lakhs (12.5%)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proving business model viability and achieving cash-flow break-even by Q4.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Year 2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Scale to 75 installations and ₹10.5 crores revenue; EBITDA jumps to</a:t>
            </a: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₹3.3 crores (31%),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demonstrating strong operating leverage and predictable subscription growth.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Year 3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200+ installations delivering </a:t>
            </a: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₹32 crores revenue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₹14 crores EBITDA (44%)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supported by multi-city expansion and recurring subscription compounding.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Year 5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Over 600 installations with ₹95 crores revenue, recurring revenue reaching 40% (₹38 crores), and EBITDA </a:t>
            </a: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stabilizing at 48–50%,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indicating a highly scalable and profitable model.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Projections assume 60% retention, but </a:t>
            </a: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actual expected 85%+ retention would accelerate growth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further due to high switching costs and ongoing value delivery.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7040" y="925830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655731" y="2687313"/>
            <a:ext cx="6769059" cy="4086819"/>
          </a:xfrm>
          <a:custGeom>
            <a:avLst/>
            <a:gdLst/>
            <a:ahLst/>
            <a:cxnLst/>
            <a:rect r="r" b="b" t="t" l="l"/>
            <a:pathLst>
              <a:path h="4086819" w="6769059">
                <a:moveTo>
                  <a:pt x="0" y="0"/>
                </a:moveTo>
                <a:lnTo>
                  <a:pt x="6769059" y="0"/>
                </a:lnTo>
                <a:lnTo>
                  <a:pt x="6769059" y="4086820"/>
                </a:lnTo>
                <a:lnTo>
                  <a:pt x="0" y="4086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4825" y="1212178"/>
            <a:ext cx="4243380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4825" y="400050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ENERVISION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7040" y="2255268"/>
            <a:ext cx="9152601" cy="634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Verified Market Demand (Survey-Based): 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 80% of surveyed institutions and industries reported significant energy wastage, lack of real-time visibility, and high interest in continuous auditing solutions like EnerVision.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High Adoption Readiness: 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out of 4 decision-makers (principals, facility managers, industrial supervisors) expressed willingness to implement EnerVision once full deployment is available—showing strong pre-market pull.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Prototype Validation: 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prototype testing confirmed EnerVision’s ability to capture live energy data, flag anomalies, and generate actionable insights, validating technical feasibility and system reliability.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ROI-Driven Customer Motivation: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Survey responses show customers are ready to adopt if they can achieve 15–25% yearly savings, with most expecting 6–12 months ROI, confirming strong economic motivation.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Carbon-Credit Advantage as a Differentiator : 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70% of surveyed customers showed high interest in EnerVision’s carbon tracking and future carbon-credit generation, identifying it as a key value-add over traditional audits.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Object 6" id="6"/>
          <p:cNvGraphicFramePr/>
          <p:nvPr/>
        </p:nvGraphicFramePr>
        <p:xfrm>
          <a:off x="159526" y="2629906"/>
          <a:ext cx="7543800" cy="4400550"/>
        </p:xfrm>
        <a:graphic>
          <a:graphicData uri="http://schemas.openxmlformats.org/presentationml/2006/ole">
            <p:oleObj imgW="9042400" imgH="59055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504825" y="1097878"/>
            <a:ext cx="10668367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RESOURCE MOBILIZATION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4825" y="285750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ENERVISION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261468" y="2251918"/>
          <a:ext cx="11496675" cy="8900160"/>
        </p:xfrm>
        <a:graphic>
          <a:graphicData uri="http://schemas.openxmlformats.org/presentationml/2006/ole">
            <p:oleObj imgW="13792200" imgH="112014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04825" y="1097878"/>
            <a:ext cx="10668367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RESOURCE MOBILIZATION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4825" y="285750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ENERVISION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10929" y="2010793"/>
            <a:ext cx="15299082" cy="9321259"/>
          </a:xfrm>
          <a:custGeom>
            <a:avLst/>
            <a:gdLst/>
            <a:ahLst/>
            <a:cxnLst/>
            <a:rect r="r" b="b" t="t" l="l"/>
            <a:pathLst>
              <a:path h="9321259" w="15299082">
                <a:moveTo>
                  <a:pt x="0" y="0"/>
                </a:moveTo>
                <a:lnTo>
                  <a:pt x="15299082" y="0"/>
                </a:lnTo>
                <a:lnTo>
                  <a:pt x="15299082" y="9321260"/>
                </a:lnTo>
                <a:lnTo>
                  <a:pt x="0" y="9321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0225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4825" y="1097878"/>
            <a:ext cx="10668367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WAY FORWARD STRATEGY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4825" y="285750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ENERVISION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2336296" y="4065560"/>
            <a:ext cx="2960881" cy="2960544"/>
            <a:chOff x="0" y="0"/>
            <a:chExt cx="6350013" cy="63492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" y="-1"/>
              <a:ext cx="6350000" cy="6349290"/>
            </a:xfrm>
            <a:custGeom>
              <a:avLst/>
              <a:gdLst/>
              <a:ahLst/>
              <a:cxnLst/>
              <a:rect r="r" b="b" t="t" l="l"/>
              <a:pathLst>
                <a:path h="6349290" w="6350000">
                  <a:moveTo>
                    <a:pt x="5589297" y="1006730"/>
                  </a:moveTo>
                  <a:cubicBezTo>
                    <a:pt x="5465116" y="791694"/>
                    <a:pt x="5239933" y="671386"/>
                    <a:pt x="5008285" y="671221"/>
                  </a:cubicBezTo>
                  <a:lnTo>
                    <a:pt x="5008323" y="671183"/>
                  </a:lnTo>
                  <a:cubicBezTo>
                    <a:pt x="4776675" y="670980"/>
                    <a:pt x="4551453" y="550686"/>
                    <a:pt x="4427311" y="335675"/>
                  </a:cubicBezTo>
                  <a:cubicBezTo>
                    <a:pt x="4242069" y="14784"/>
                    <a:pt x="3831782" y="-95135"/>
                    <a:pt x="3510892" y="90146"/>
                  </a:cubicBezTo>
                  <a:lnTo>
                    <a:pt x="3510841" y="90184"/>
                  </a:lnTo>
                  <a:lnTo>
                    <a:pt x="3510841" y="89980"/>
                  </a:lnTo>
                  <a:cubicBezTo>
                    <a:pt x="3311540" y="204801"/>
                    <a:pt x="3058606" y="213894"/>
                    <a:pt x="2844523" y="92495"/>
                  </a:cubicBezTo>
                  <a:cubicBezTo>
                    <a:pt x="2741495" y="31767"/>
                    <a:pt x="2624048" y="-177"/>
                    <a:pt x="2504455" y="1"/>
                  </a:cubicBezTo>
                  <a:cubicBezTo>
                    <a:pt x="2256157" y="1"/>
                    <a:pt x="2039393" y="134913"/>
                    <a:pt x="1923366" y="335433"/>
                  </a:cubicBezTo>
                  <a:lnTo>
                    <a:pt x="1923366" y="335395"/>
                  </a:lnTo>
                  <a:cubicBezTo>
                    <a:pt x="1807377" y="535877"/>
                    <a:pt x="1590563" y="670790"/>
                    <a:pt x="1342303" y="670790"/>
                  </a:cubicBezTo>
                  <a:cubicBezTo>
                    <a:pt x="971781" y="670790"/>
                    <a:pt x="671438" y="971132"/>
                    <a:pt x="671438" y="1341654"/>
                  </a:cubicBezTo>
                  <a:lnTo>
                    <a:pt x="671438" y="1341731"/>
                  </a:lnTo>
                  <a:lnTo>
                    <a:pt x="671235" y="1341654"/>
                  </a:lnTo>
                  <a:cubicBezTo>
                    <a:pt x="671032" y="1571537"/>
                    <a:pt x="552554" y="1795019"/>
                    <a:pt x="340654" y="1919771"/>
                  </a:cubicBezTo>
                  <a:cubicBezTo>
                    <a:pt x="236398" y="1978609"/>
                    <a:pt x="149886" y="2064406"/>
                    <a:pt x="90185" y="2168170"/>
                  </a:cubicBezTo>
                  <a:cubicBezTo>
                    <a:pt x="-33971" y="2383232"/>
                    <a:pt x="-25525" y="2638388"/>
                    <a:pt x="90147" y="2839111"/>
                  </a:cubicBezTo>
                  <a:lnTo>
                    <a:pt x="90109" y="2839111"/>
                  </a:lnTo>
                  <a:cubicBezTo>
                    <a:pt x="205691" y="3039797"/>
                    <a:pt x="214137" y="3294978"/>
                    <a:pt x="89982" y="3510014"/>
                  </a:cubicBezTo>
                  <a:cubicBezTo>
                    <a:pt x="-95248" y="3830867"/>
                    <a:pt x="14658" y="4241153"/>
                    <a:pt x="335549" y="4426434"/>
                  </a:cubicBezTo>
                  <a:lnTo>
                    <a:pt x="335587" y="4426472"/>
                  </a:lnTo>
                  <a:lnTo>
                    <a:pt x="335460" y="4426560"/>
                  </a:lnTo>
                  <a:cubicBezTo>
                    <a:pt x="535980" y="4542499"/>
                    <a:pt x="670829" y="4759313"/>
                    <a:pt x="670829" y="5007611"/>
                  </a:cubicBezTo>
                  <a:cubicBezTo>
                    <a:pt x="670829" y="5378133"/>
                    <a:pt x="971171" y="5678476"/>
                    <a:pt x="1341681" y="5678476"/>
                  </a:cubicBezTo>
                  <a:cubicBezTo>
                    <a:pt x="1589991" y="5678476"/>
                    <a:pt x="1806717" y="5813362"/>
                    <a:pt x="1922782" y="6013883"/>
                  </a:cubicBezTo>
                  <a:cubicBezTo>
                    <a:pt x="2038771" y="6214314"/>
                    <a:pt x="2255573" y="6349290"/>
                    <a:pt x="2503845" y="6349290"/>
                  </a:cubicBezTo>
                  <a:cubicBezTo>
                    <a:pt x="2623437" y="6349444"/>
                    <a:pt x="2740879" y="6317498"/>
                    <a:pt x="2843913" y="6256783"/>
                  </a:cubicBezTo>
                  <a:cubicBezTo>
                    <a:pt x="3057946" y="6135409"/>
                    <a:pt x="3310943" y="6144502"/>
                    <a:pt x="3510231" y="6259361"/>
                  </a:cubicBezTo>
                  <a:lnTo>
                    <a:pt x="3510231" y="6259120"/>
                  </a:lnTo>
                  <a:lnTo>
                    <a:pt x="3510269" y="6259196"/>
                  </a:lnTo>
                  <a:cubicBezTo>
                    <a:pt x="3831160" y="6444438"/>
                    <a:pt x="4241446" y="6334482"/>
                    <a:pt x="4426739" y="6013629"/>
                  </a:cubicBezTo>
                  <a:cubicBezTo>
                    <a:pt x="4550882" y="5798631"/>
                    <a:pt x="4776066" y="5678311"/>
                    <a:pt x="5007713" y="5678146"/>
                  </a:cubicBezTo>
                  <a:lnTo>
                    <a:pt x="5007663" y="5678057"/>
                  </a:lnTo>
                  <a:cubicBezTo>
                    <a:pt x="5239310" y="5677892"/>
                    <a:pt x="5464532" y="5557572"/>
                    <a:pt x="5588637" y="5342574"/>
                  </a:cubicBezTo>
                  <a:cubicBezTo>
                    <a:pt x="5649762" y="5236720"/>
                    <a:pt x="5678769" y="5121099"/>
                    <a:pt x="5678642" y="5007078"/>
                  </a:cubicBezTo>
                  <a:lnTo>
                    <a:pt x="5678731" y="5007155"/>
                  </a:lnTo>
                  <a:cubicBezTo>
                    <a:pt x="5678934" y="4783711"/>
                    <a:pt x="5790897" y="4566223"/>
                    <a:pt x="5991811" y="4439693"/>
                  </a:cubicBezTo>
                  <a:cubicBezTo>
                    <a:pt x="6100116" y="4382746"/>
                    <a:pt x="6194109" y="4295485"/>
                    <a:pt x="6259781" y="4181731"/>
                  </a:cubicBezTo>
                  <a:cubicBezTo>
                    <a:pt x="6383974" y="3966618"/>
                    <a:pt x="6375529" y="3711437"/>
                    <a:pt x="6259870" y="3510751"/>
                  </a:cubicBezTo>
                  <a:lnTo>
                    <a:pt x="6259908" y="3510751"/>
                  </a:lnTo>
                  <a:cubicBezTo>
                    <a:pt x="6144287" y="3310066"/>
                    <a:pt x="6135829" y="3054885"/>
                    <a:pt x="6259997" y="2839836"/>
                  </a:cubicBezTo>
                  <a:cubicBezTo>
                    <a:pt x="6445277" y="2518945"/>
                    <a:pt x="6335320" y="2108697"/>
                    <a:pt x="6014429" y="1923417"/>
                  </a:cubicBezTo>
                  <a:lnTo>
                    <a:pt x="6014379" y="1923366"/>
                  </a:lnTo>
                  <a:lnTo>
                    <a:pt x="6014506" y="1923328"/>
                  </a:lnTo>
                  <a:cubicBezTo>
                    <a:pt x="5815599" y="1808240"/>
                    <a:pt x="5681309" y="1593953"/>
                    <a:pt x="5679188" y="1348132"/>
                  </a:cubicBezTo>
                  <a:cubicBezTo>
                    <a:pt x="5680356" y="1232130"/>
                    <a:pt x="5651438" y="1114401"/>
                    <a:pt x="5589297" y="1006730"/>
                  </a:cubicBezTo>
                </a:path>
              </a:pathLst>
            </a:custGeom>
            <a:blipFill>
              <a:blip r:embed="rId3"/>
              <a:stretch>
                <a:fillRect l="0" t="-9708" r="0" b="-9708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7575089" y="4065560"/>
            <a:ext cx="2960881" cy="2960544"/>
            <a:chOff x="0" y="0"/>
            <a:chExt cx="6350013" cy="63492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" y="-1"/>
              <a:ext cx="6350000" cy="6349290"/>
            </a:xfrm>
            <a:custGeom>
              <a:avLst/>
              <a:gdLst/>
              <a:ahLst/>
              <a:cxnLst/>
              <a:rect r="r" b="b" t="t" l="l"/>
              <a:pathLst>
                <a:path h="6349290" w="6350000">
                  <a:moveTo>
                    <a:pt x="5589297" y="1006730"/>
                  </a:moveTo>
                  <a:cubicBezTo>
                    <a:pt x="5465116" y="791694"/>
                    <a:pt x="5239933" y="671386"/>
                    <a:pt x="5008285" y="671221"/>
                  </a:cubicBezTo>
                  <a:lnTo>
                    <a:pt x="5008323" y="671183"/>
                  </a:lnTo>
                  <a:cubicBezTo>
                    <a:pt x="4776675" y="670980"/>
                    <a:pt x="4551453" y="550686"/>
                    <a:pt x="4427311" y="335675"/>
                  </a:cubicBezTo>
                  <a:cubicBezTo>
                    <a:pt x="4242069" y="14784"/>
                    <a:pt x="3831782" y="-95135"/>
                    <a:pt x="3510892" y="90146"/>
                  </a:cubicBezTo>
                  <a:lnTo>
                    <a:pt x="3510841" y="90184"/>
                  </a:lnTo>
                  <a:lnTo>
                    <a:pt x="3510841" y="89980"/>
                  </a:lnTo>
                  <a:cubicBezTo>
                    <a:pt x="3311540" y="204801"/>
                    <a:pt x="3058606" y="213894"/>
                    <a:pt x="2844523" y="92495"/>
                  </a:cubicBezTo>
                  <a:cubicBezTo>
                    <a:pt x="2741495" y="31767"/>
                    <a:pt x="2624048" y="-177"/>
                    <a:pt x="2504455" y="1"/>
                  </a:cubicBezTo>
                  <a:cubicBezTo>
                    <a:pt x="2256157" y="1"/>
                    <a:pt x="2039393" y="134913"/>
                    <a:pt x="1923366" y="335433"/>
                  </a:cubicBezTo>
                  <a:lnTo>
                    <a:pt x="1923366" y="335395"/>
                  </a:lnTo>
                  <a:cubicBezTo>
                    <a:pt x="1807377" y="535877"/>
                    <a:pt x="1590563" y="670790"/>
                    <a:pt x="1342303" y="670790"/>
                  </a:cubicBezTo>
                  <a:cubicBezTo>
                    <a:pt x="971781" y="670790"/>
                    <a:pt x="671438" y="971132"/>
                    <a:pt x="671438" y="1341654"/>
                  </a:cubicBezTo>
                  <a:lnTo>
                    <a:pt x="671438" y="1341731"/>
                  </a:lnTo>
                  <a:lnTo>
                    <a:pt x="671235" y="1341654"/>
                  </a:lnTo>
                  <a:cubicBezTo>
                    <a:pt x="671032" y="1571537"/>
                    <a:pt x="552554" y="1795019"/>
                    <a:pt x="340654" y="1919771"/>
                  </a:cubicBezTo>
                  <a:cubicBezTo>
                    <a:pt x="236398" y="1978609"/>
                    <a:pt x="149886" y="2064406"/>
                    <a:pt x="90185" y="2168170"/>
                  </a:cubicBezTo>
                  <a:cubicBezTo>
                    <a:pt x="-33971" y="2383232"/>
                    <a:pt x="-25525" y="2638388"/>
                    <a:pt x="90147" y="2839111"/>
                  </a:cubicBezTo>
                  <a:lnTo>
                    <a:pt x="90109" y="2839111"/>
                  </a:lnTo>
                  <a:cubicBezTo>
                    <a:pt x="205691" y="3039797"/>
                    <a:pt x="214137" y="3294978"/>
                    <a:pt x="89982" y="3510014"/>
                  </a:cubicBezTo>
                  <a:cubicBezTo>
                    <a:pt x="-95248" y="3830867"/>
                    <a:pt x="14658" y="4241153"/>
                    <a:pt x="335549" y="4426434"/>
                  </a:cubicBezTo>
                  <a:lnTo>
                    <a:pt x="335587" y="4426472"/>
                  </a:lnTo>
                  <a:lnTo>
                    <a:pt x="335460" y="4426560"/>
                  </a:lnTo>
                  <a:cubicBezTo>
                    <a:pt x="535980" y="4542499"/>
                    <a:pt x="670829" y="4759313"/>
                    <a:pt x="670829" y="5007611"/>
                  </a:cubicBezTo>
                  <a:cubicBezTo>
                    <a:pt x="670829" y="5378133"/>
                    <a:pt x="971171" y="5678476"/>
                    <a:pt x="1341681" y="5678476"/>
                  </a:cubicBezTo>
                  <a:cubicBezTo>
                    <a:pt x="1589991" y="5678476"/>
                    <a:pt x="1806717" y="5813362"/>
                    <a:pt x="1922782" y="6013883"/>
                  </a:cubicBezTo>
                  <a:cubicBezTo>
                    <a:pt x="2038771" y="6214314"/>
                    <a:pt x="2255573" y="6349290"/>
                    <a:pt x="2503845" y="6349290"/>
                  </a:cubicBezTo>
                  <a:cubicBezTo>
                    <a:pt x="2623437" y="6349444"/>
                    <a:pt x="2740879" y="6317498"/>
                    <a:pt x="2843913" y="6256783"/>
                  </a:cubicBezTo>
                  <a:cubicBezTo>
                    <a:pt x="3057946" y="6135409"/>
                    <a:pt x="3310943" y="6144502"/>
                    <a:pt x="3510231" y="6259361"/>
                  </a:cubicBezTo>
                  <a:lnTo>
                    <a:pt x="3510231" y="6259120"/>
                  </a:lnTo>
                  <a:lnTo>
                    <a:pt x="3510269" y="6259196"/>
                  </a:lnTo>
                  <a:cubicBezTo>
                    <a:pt x="3831160" y="6444438"/>
                    <a:pt x="4241446" y="6334482"/>
                    <a:pt x="4426739" y="6013629"/>
                  </a:cubicBezTo>
                  <a:cubicBezTo>
                    <a:pt x="4550882" y="5798631"/>
                    <a:pt x="4776066" y="5678311"/>
                    <a:pt x="5007713" y="5678146"/>
                  </a:cubicBezTo>
                  <a:lnTo>
                    <a:pt x="5007663" y="5678057"/>
                  </a:lnTo>
                  <a:cubicBezTo>
                    <a:pt x="5239310" y="5677892"/>
                    <a:pt x="5464532" y="5557572"/>
                    <a:pt x="5588637" y="5342574"/>
                  </a:cubicBezTo>
                  <a:cubicBezTo>
                    <a:pt x="5649762" y="5236720"/>
                    <a:pt x="5678769" y="5121099"/>
                    <a:pt x="5678642" y="5007078"/>
                  </a:cubicBezTo>
                  <a:lnTo>
                    <a:pt x="5678731" y="5007155"/>
                  </a:lnTo>
                  <a:cubicBezTo>
                    <a:pt x="5678934" y="4783711"/>
                    <a:pt x="5790897" y="4566223"/>
                    <a:pt x="5991811" y="4439693"/>
                  </a:cubicBezTo>
                  <a:cubicBezTo>
                    <a:pt x="6100116" y="4382746"/>
                    <a:pt x="6194109" y="4295485"/>
                    <a:pt x="6259781" y="4181731"/>
                  </a:cubicBezTo>
                  <a:cubicBezTo>
                    <a:pt x="6383974" y="3966618"/>
                    <a:pt x="6375529" y="3711437"/>
                    <a:pt x="6259870" y="3510751"/>
                  </a:cubicBezTo>
                  <a:lnTo>
                    <a:pt x="6259908" y="3510751"/>
                  </a:lnTo>
                  <a:cubicBezTo>
                    <a:pt x="6144287" y="3310066"/>
                    <a:pt x="6135829" y="3054885"/>
                    <a:pt x="6259997" y="2839836"/>
                  </a:cubicBezTo>
                  <a:cubicBezTo>
                    <a:pt x="6445277" y="2518945"/>
                    <a:pt x="6335320" y="2108697"/>
                    <a:pt x="6014429" y="1923417"/>
                  </a:cubicBezTo>
                  <a:lnTo>
                    <a:pt x="6014379" y="1923366"/>
                  </a:lnTo>
                  <a:lnTo>
                    <a:pt x="6014506" y="1923328"/>
                  </a:lnTo>
                  <a:cubicBezTo>
                    <a:pt x="5815599" y="1808240"/>
                    <a:pt x="5681309" y="1593953"/>
                    <a:pt x="5679188" y="1348132"/>
                  </a:cubicBezTo>
                  <a:cubicBezTo>
                    <a:pt x="5680356" y="1232130"/>
                    <a:pt x="5651438" y="1114401"/>
                    <a:pt x="5589297" y="1006730"/>
                  </a:cubicBezTo>
                </a:path>
              </a:pathLst>
            </a:custGeom>
            <a:blipFill>
              <a:blip r:embed="rId4"/>
              <a:stretch>
                <a:fillRect l="0" t="-16674" r="0" b="-16674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2812445" y="4065560"/>
            <a:ext cx="2960881" cy="2960544"/>
            <a:chOff x="0" y="0"/>
            <a:chExt cx="6350013" cy="6349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" y="-1"/>
              <a:ext cx="6350000" cy="6349290"/>
            </a:xfrm>
            <a:custGeom>
              <a:avLst/>
              <a:gdLst/>
              <a:ahLst/>
              <a:cxnLst/>
              <a:rect r="r" b="b" t="t" l="l"/>
              <a:pathLst>
                <a:path h="6349290" w="6350000">
                  <a:moveTo>
                    <a:pt x="5589297" y="1006730"/>
                  </a:moveTo>
                  <a:cubicBezTo>
                    <a:pt x="5465116" y="791694"/>
                    <a:pt x="5239933" y="671386"/>
                    <a:pt x="5008285" y="671221"/>
                  </a:cubicBezTo>
                  <a:lnTo>
                    <a:pt x="5008323" y="671183"/>
                  </a:lnTo>
                  <a:cubicBezTo>
                    <a:pt x="4776675" y="670980"/>
                    <a:pt x="4551453" y="550686"/>
                    <a:pt x="4427311" y="335675"/>
                  </a:cubicBezTo>
                  <a:cubicBezTo>
                    <a:pt x="4242069" y="14784"/>
                    <a:pt x="3831782" y="-95135"/>
                    <a:pt x="3510892" y="90146"/>
                  </a:cubicBezTo>
                  <a:lnTo>
                    <a:pt x="3510841" y="90184"/>
                  </a:lnTo>
                  <a:lnTo>
                    <a:pt x="3510841" y="89980"/>
                  </a:lnTo>
                  <a:cubicBezTo>
                    <a:pt x="3311540" y="204801"/>
                    <a:pt x="3058606" y="213894"/>
                    <a:pt x="2844523" y="92495"/>
                  </a:cubicBezTo>
                  <a:cubicBezTo>
                    <a:pt x="2741495" y="31767"/>
                    <a:pt x="2624048" y="-177"/>
                    <a:pt x="2504455" y="1"/>
                  </a:cubicBezTo>
                  <a:cubicBezTo>
                    <a:pt x="2256157" y="1"/>
                    <a:pt x="2039393" y="134913"/>
                    <a:pt x="1923366" y="335433"/>
                  </a:cubicBezTo>
                  <a:lnTo>
                    <a:pt x="1923366" y="335395"/>
                  </a:lnTo>
                  <a:cubicBezTo>
                    <a:pt x="1807377" y="535877"/>
                    <a:pt x="1590563" y="670790"/>
                    <a:pt x="1342303" y="670790"/>
                  </a:cubicBezTo>
                  <a:cubicBezTo>
                    <a:pt x="971781" y="670790"/>
                    <a:pt x="671438" y="971132"/>
                    <a:pt x="671438" y="1341654"/>
                  </a:cubicBezTo>
                  <a:lnTo>
                    <a:pt x="671438" y="1341731"/>
                  </a:lnTo>
                  <a:lnTo>
                    <a:pt x="671235" y="1341654"/>
                  </a:lnTo>
                  <a:cubicBezTo>
                    <a:pt x="671032" y="1571537"/>
                    <a:pt x="552554" y="1795019"/>
                    <a:pt x="340654" y="1919771"/>
                  </a:cubicBezTo>
                  <a:cubicBezTo>
                    <a:pt x="236398" y="1978609"/>
                    <a:pt x="149886" y="2064406"/>
                    <a:pt x="90185" y="2168170"/>
                  </a:cubicBezTo>
                  <a:cubicBezTo>
                    <a:pt x="-33971" y="2383232"/>
                    <a:pt x="-25525" y="2638388"/>
                    <a:pt x="90147" y="2839111"/>
                  </a:cubicBezTo>
                  <a:lnTo>
                    <a:pt x="90109" y="2839111"/>
                  </a:lnTo>
                  <a:cubicBezTo>
                    <a:pt x="205691" y="3039797"/>
                    <a:pt x="214137" y="3294978"/>
                    <a:pt x="89982" y="3510014"/>
                  </a:cubicBezTo>
                  <a:cubicBezTo>
                    <a:pt x="-95248" y="3830867"/>
                    <a:pt x="14658" y="4241153"/>
                    <a:pt x="335549" y="4426434"/>
                  </a:cubicBezTo>
                  <a:lnTo>
                    <a:pt x="335587" y="4426472"/>
                  </a:lnTo>
                  <a:lnTo>
                    <a:pt x="335460" y="4426560"/>
                  </a:lnTo>
                  <a:cubicBezTo>
                    <a:pt x="535980" y="4542499"/>
                    <a:pt x="670829" y="4759313"/>
                    <a:pt x="670829" y="5007611"/>
                  </a:cubicBezTo>
                  <a:cubicBezTo>
                    <a:pt x="670829" y="5378133"/>
                    <a:pt x="971171" y="5678476"/>
                    <a:pt x="1341681" y="5678476"/>
                  </a:cubicBezTo>
                  <a:cubicBezTo>
                    <a:pt x="1589991" y="5678476"/>
                    <a:pt x="1806717" y="5813362"/>
                    <a:pt x="1922782" y="6013883"/>
                  </a:cubicBezTo>
                  <a:cubicBezTo>
                    <a:pt x="2038771" y="6214314"/>
                    <a:pt x="2255573" y="6349290"/>
                    <a:pt x="2503845" y="6349290"/>
                  </a:cubicBezTo>
                  <a:cubicBezTo>
                    <a:pt x="2623437" y="6349444"/>
                    <a:pt x="2740879" y="6317498"/>
                    <a:pt x="2843913" y="6256783"/>
                  </a:cubicBezTo>
                  <a:cubicBezTo>
                    <a:pt x="3057946" y="6135409"/>
                    <a:pt x="3310943" y="6144502"/>
                    <a:pt x="3510231" y="6259361"/>
                  </a:cubicBezTo>
                  <a:lnTo>
                    <a:pt x="3510231" y="6259120"/>
                  </a:lnTo>
                  <a:lnTo>
                    <a:pt x="3510269" y="6259196"/>
                  </a:lnTo>
                  <a:cubicBezTo>
                    <a:pt x="3831160" y="6444438"/>
                    <a:pt x="4241446" y="6334482"/>
                    <a:pt x="4426739" y="6013629"/>
                  </a:cubicBezTo>
                  <a:cubicBezTo>
                    <a:pt x="4550882" y="5798631"/>
                    <a:pt x="4776066" y="5678311"/>
                    <a:pt x="5007713" y="5678146"/>
                  </a:cubicBezTo>
                  <a:lnTo>
                    <a:pt x="5007663" y="5678057"/>
                  </a:lnTo>
                  <a:cubicBezTo>
                    <a:pt x="5239310" y="5677892"/>
                    <a:pt x="5464532" y="5557572"/>
                    <a:pt x="5588637" y="5342574"/>
                  </a:cubicBezTo>
                  <a:cubicBezTo>
                    <a:pt x="5649762" y="5236720"/>
                    <a:pt x="5678769" y="5121099"/>
                    <a:pt x="5678642" y="5007078"/>
                  </a:cubicBezTo>
                  <a:lnTo>
                    <a:pt x="5678731" y="5007155"/>
                  </a:lnTo>
                  <a:cubicBezTo>
                    <a:pt x="5678934" y="4783711"/>
                    <a:pt x="5790897" y="4566223"/>
                    <a:pt x="5991811" y="4439693"/>
                  </a:cubicBezTo>
                  <a:cubicBezTo>
                    <a:pt x="6100116" y="4382746"/>
                    <a:pt x="6194109" y="4295485"/>
                    <a:pt x="6259781" y="4181731"/>
                  </a:cubicBezTo>
                  <a:cubicBezTo>
                    <a:pt x="6383974" y="3966618"/>
                    <a:pt x="6375529" y="3711437"/>
                    <a:pt x="6259870" y="3510751"/>
                  </a:cubicBezTo>
                  <a:lnTo>
                    <a:pt x="6259908" y="3510751"/>
                  </a:lnTo>
                  <a:cubicBezTo>
                    <a:pt x="6144287" y="3310066"/>
                    <a:pt x="6135829" y="3054885"/>
                    <a:pt x="6259997" y="2839836"/>
                  </a:cubicBezTo>
                  <a:cubicBezTo>
                    <a:pt x="6445277" y="2518945"/>
                    <a:pt x="6335320" y="2108697"/>
                    <a:pt x="6014429" y="1923417"/>
                  </a:cubicBezTo>
                  <a:lnTo>
                    <a:pt x="6014379" y="1923366"/>
                  </a:lnTo>
                  <a:lnTo>
                    <a:pt x="6014506" y="1923328"/>
                  </a:lnTo>
                  <a:cubicBezTo>
                    <a:pt x="5815599" y="1808240"/>
                    <a:pt x="5681309" y="1593953"/>
                    <a:pt x="5679188" y="1348132"/>
                  </a:cubicBezTo>
                  <a:cubicBezTo>
                    <a:pt x="5680356" y="1232130"/>
                    <a:pt x="5651438" y="1114401"/>
                    <a:pt x="5589297" y="1006730"/>
                  </a:cubicBezTo>
                </a:path>
              </a:pathLst>
            </a:custGeom>
            <a:blipFill>
              <a:blip r:embed="rId5"/>
              <a:stretch>
                <a:fillRect l="-32490" t="-28263" r="-30248" b="-3449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676618" y="1791504"/>
            <a:ext cx="6756386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MEMBERS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18918" y="1116794"/>
            <a:ext cx="5871786" cy="624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MEET OUR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9203" y="7493213"/>
            <a:ext cx="4555066" cy="79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Bhuvanesh Ganapathi</a:t>
            </a:r>
          </a:p>
          <a:p>
            <a:pPr algn="ctr">
              <a:lnSpc>
                <a:spcPts val="3107"/>
              </a:lnSpc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Master of Computer Application</a:t>
            </a:r>
          </a:p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PSGCAS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84478" y="7521404"/>
            <a:ext cx="4719044" cy="79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Tharun Vaibhav S S</a:t>
            </a:r>
          </a:p>
          <a:p>
            <a:pPr algn="ctr">
              <a:lnSpc>
                <a:spcPts val="3107"/>
              </a:lnSpc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Master of Computer Application </a:t>
            </a:r>
          </a:p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PSGCAS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47777" y="7521404"/>
            <a:ext cx="5090218" cy="118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Prateepan MS</a:t>
            </a:r>
          </a:p>
          <a:p>
            <a:pPr algn="ctr">
              <a:lnSpc>
                <a:spcPts val="3107"/>
              </a:lnSpc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Bachelor of Computer Application</a:t>
            </a:r>
          </a:p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PSGCAS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35000" y="4477111"/>
            <a:ext cx="19558000" cy="1332778"/>
            <a:chOff x="0" y="0"/>
            <a:chExt cx="26077333" cy="177703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993467" cy="1777037"/>
              <a:chOff x="0" y="0"/>
              <a:chExt cx="1381426" cy="35102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381426" cy="351020"/>
              </a:xfrm>
              <a:custGeom>
                <a:avLst/>
                <a:gdLst/>
                <a:ahLst/>
                <a:cxnLst/>
                <a:rect r="r" b="b" t="t" l="l"/>
                <a:pathLst>
                  <a:path h="351020" w="1381426">
                    <a:moveTo>
                      <a:pt x="75277" y="0"/>
                    </a:moveTo>
                    <a:lnTo>
                      <a:pt x="1306148" y="0"/>
                    </a:lnTo>
                    <a:cubicBezTo>
                      <a:pt x="1326113" y="0"/>
                      <a:pt x="1345260" y="7931"/>
                      <a:pt x="1359377" y="22048"/>
                    </a:cubicBezTo>
                    <a:cubicBezTo>
                      <a:pt x="1373495" y="36166"/>
                      <a:pt x="1381426" y="55313"/>
                      <a:pt x="1381426" y="75277"/>
                    </a:cubicBezTo>
                    <a:lnTo>
                      <a:pt x="1381426" y="275742"/>
                    </a:lnTo>
                    <a:cubicBezTo>
                      <a:pt x="1381426" y="295707"/>
                      <a:pt x="1373495" y="314854"/>
                      <a:pt x="1359377" y="328971"/>
                    </a:cubicBezTo>
                    <a:cubicBezTo>
                      <a:pt x="1345260" y="343089"/>
                      <a:pt x="1326113" y="351020"/>
                      <a:pt x="1306148" y="351020"/>
                    </a:cubicBezTo>
                    <a:lnTo>
                      <a:pt x="75277" y="351020"/>
                    </a:lnTo>
                    <a:cubicBezTo>
                      <a:pt x="55313" y="351020"/>
                      <a:pt x="36166" y="343089"/>
                      <a:pt x="22048" y="328971"/>
                    </a:cubicBezTo>
                    <a:cubicBezTo>
                      <a:pt x="7931" y="314854"/>
                      <a:pt x="0" y="295707"/>
                      <a:pt x="0" y="275742"/>
                    </a:cubicBezTo>
                    <a:lnTo>
                      <a:pt x="0" y="75277"/>
                    </a:lnTo>
                    <a:cubicBezTo>
                      <a:pt x="0" y="55313"/>
                      <a:pt x="7931" y="36166"/>
                      <a:pt x="22048" y="22048"/>
                    </a:cubicBezTo>
                    <a:cubicBezTo>
                      <a:pt x="36166" y="7931"/>
                      <a:pt x="55313" y="0"/>
                      <a:pt x="75277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1381426" cy="3986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9253200" y="0"/>
              <a:ext cx="6824133" cy="1777037"/>
              <a:chOff x="0" y="0"/>
              <a:chExt cx="1347977" cy="35102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347977" cy="351020"/>
              </a:xfrm>
              <a:custGeom>
                <a:avLst/>
                <a:gdLst/>
                <a:ahLst/>
                <a:cxnLst/>
                <a:rect r="r" b="b" t="t" l="l"/>
                <a:pathLst>
                  <a:path h="351020" w="1347977">
                    <a:moveTo>
                      <a:pt x="77145" y="0"/>
                    </a:moveTo>
                    <a:lnTo>
                      <a:pt x="1270832" y="0"/>
                    </a:lnTo>
                    <a:cubicBezTo>
                      <a:pt x="1291292" y="0"/>
                      <a:pt x="1310914" y="8128"/>
                      <a:pt x="1325382" y="22595"/>
                    </a:cubicBezTo>
                    <a:cubicBezTo>
                      <a:pt x="1339849" y="37063"/>
                      <a:pt x="1347977" y="56685"/>
                      <a:pt x="1347977" y="77145"/>
                    </a:cubicBezTo>
                    <a:lnTo>
                      <a:pt x="1347977" y="273874"/>
                    </a:lnTo>
                    <a:cubicBezTo>
                      <a:pt x="1347977" y="316480"/>
                      <a:pt x="1313438" y="351020"/>
                      <a:pt x="1270832" y="351020"/>
                    </a:cubicBezTo>
                    <a:lnTo>
                      <a:pt x="77145" y="351020"/>
                    </a:lnTo>
                    <a:cubicBezTo>
                      <a:pt x="34539" y="351020"/>
                      <a:pt x="0" y="316480"/>
                      <a:pt x="0" y="273874"/>
                    </a:cubicBezTo>
                    <a:lnTo>
                      <a:pt x="0" y="77145"/>
                    </a:lnTo>
                    <a:cubicBezTo>
                      <a:pt x="0" y="34539"/>
                      <a:pt x="34539" y="0"/>
                      <a:pt x="77145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1347977" cy="3986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7509063" y="137488"/>
              <a:ext cx="11228540" cy="16395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334"/>
                </a:lnSpc>
              </a:pPr>
              <a:r>
                <a:rPr lang="en-US" b="true" sz="7382">
                  <a:solidFill>
                    <a:srgbClr val="004AA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DAG5fytmWY4</dc:identifier>
  <dcterms:modified xsi:type="dcterms:W3CDTF">2011-08-01T06:04:30Z</dcterms:modified>
  <cp:revision>1</cp:revision>
  <dc:title>Enervision_F3</dc:title>
</cp:coreProperties>
</file>